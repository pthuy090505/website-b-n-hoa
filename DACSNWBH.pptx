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8" r:id="rId12"/>
    <p:sldId id="269"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25" autoAdjust="0"/>
    <p:restoredTop sz="95373" autoAdjust="0"/>
  </p:normalViewPr>
  <p:slideViewPr>
    <p:cSldViewPr>
      <p:cViewPr varScale="1">
        <p:scale>
          <a:sx n="66" d="100"/>
          <a:sy n="66" d="100"/>
        </p:scale>
        <p:origin x="-1368"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911D83A-4EC8-4CF9-A3C5-88A0AAC896E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3695826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11D83A-4EC8-4CF9-A3C5-88A0AAC896E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2441981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11D83A-4EC8-4CF9-A3C5-88A0AAC896E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506571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911D83A-4EC8-4CF9-A3C5-88A0AAC896EA}"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2935736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911D83A-4EC8-4CF9-A3C5-88A0AAC896EA}"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1671985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911D83A-4EC8-4CF9-A3C5-88A0AAC896EA}"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1450790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11D83A-4EC8-4CF9-A3C5-88A0AAC896EA}"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3123632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11D83A-4EC8-4CF9-A3C5-88A0AAC896EA}"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98652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11D83A-4EC8-4CF9-A3C5-88A0AAC896EA}"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271620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11D83A-4EC8-4CF9-A3C5-88A0AAC896E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2604884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11D83A-4EC8-4CF9-A3C5-88A0AAC896E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27B1A-29C9-4F31-8A1C-3734BF2A8D79}" type="slidenum">
              <a:rPr lang="en-US" smtClean="0"/>
              <a:t>‹#›</a:t>
            </a:fld>
            <a:endParaRPr lang="en-US"/>
          </a:p>
        </p:txBody>
      </p:sp>
    </p:spTree>
    <p:extLst>
      <p:ext uri="{BB962C8B-B14F-4D97-AF65-F5344CB8AC3E}">
        <p14:creationId xmlns:p14="http://schemas.microsoft.com/office/powerpoint/2010/main" val="72900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11D83A-4EC8-4CF9-A3C5-88A0AAC896EA}" type="datetimeFigureOut">
              <a:rPr lang="en-US" smtClean="0"/>
              <a:t>1/15/2026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427B1A-29C9-4F31-8A1C-3734BF2A8D79}" type="slidenum">
              <a:rPr lang="en-US" smtClean="0"/>
              <a:t>‹#›</a:t>
            </a:fld>
            <a:endParaRPr lang="en-US"/>
          </a:p>
        </p:txBody>
      </p:sp>
    </p:spTree>
    <p:extLst>
      <p:ext uri="{BB962C8B-B14F-4D97-AF65-F5344CB8AC3E}">
        <p14:creationId xmlns:p14="http://schemas.microsoft.com/office/powerpoint/2010/main" val="3061047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prstTxWarp prst="textPlain">
              <a:avLst/>
            </a:prstTxWarp>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XÂY DỰNG WEBSITE</a:t>
            </a:r>
            <a:b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br>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BÁN HOA</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Subtitle 2"/>
          <p:cNvSpPr>
            <a:spLocks noGrp="1"/>
          </p:cNvSpPr>
          <p:nvPr>
            <p:ph type="subTitle" idx="1"/>
          </p:nvPr>
        </p:nvSpPr>
        <p:spPr>
          <a:xfrm>
            <a:off x="3200400" y="5486400"/>
            <a:ext cx="5867400" cy="1447800"/>
          </a:xfrm>
        </p:spPr>
        <p:txBody>
          <a:bodyPr>
            <a:prstTxWarp prst="textPlain">
              <a:avLst/>
            </a:prstTxWarp>
            <a:normAutofit fontScale="70000" lnSpcReduction="20000"/>
          </a:bodyPr>
          <a:lstStyle/>
          <a:p>
            <a:pPr algn="l"/>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itchFamily="18" charset="0"/>
                <a:cs typeface="Times New Roman" panose="02020603050405020304" pitchFamily="18" charset="0"/>
              </a:rPr>
              <a:t>Giảng</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viên</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hướng</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dẫn</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ThS</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Ngô</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Thanh</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Huy</a:t>
            </a:r>
            <a:endPar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endParaRPr>
          </a:p>
          <a:p>
            <a:pPr algn="l"/>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Sinh</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viên</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thực</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hiện</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Huỳnh</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Thị</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Phương</a:t>
            </a:r>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 </a:t>
            </a:r>
            <a:r>
              <a:rPr lang="en-US" b="1" dirty="0" err="1"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Thuỳ</a:t>
            </a:r>
            <a:endPar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endParaRPr>
          </a:p>
          <a:p>
            <a:pPr algn="l"/>
            <a:r>
              <a:rPr lang="en-US" b="1" dirty="0" smtClean="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MSSV: 110123183</a:t>
            </a:r>
          </a:p>
          <a:p>
            <a:pPr algn="l"/>
            <a:endParaRPr lang="en-US" b="1" dirty="0">
              <a:ln w="12700">
                <a:solidFill>
                  <a:schemeClr val="tx2">
                    <a:satMod val="155000"/>
                  </a:schemeClr>
                </a:solidFill>
                <a:prstDash val="solid"/>
              </a:ln>
              <a:solidFill>
                <a:schemeClr val="tx1">
                  <a:lumMod val="50000"/>
                  <a:lumOff val="50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2229916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NỘI DUNG</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571500" indent="-571500">
              <a:buFont typeface="+mj-lt"/>
              <a:buAutoNum type="romanLcPeriod"/>
            </a:pPr>
            <a:r>
              <a:rPr lang="en-US" sz="2800" dirty="0" smtClean="0">
                <a:latin typeface="Times New Roman" pitchFamily="18" charset="0"/>
                <a:cs typeface="Times New Roman" pitchFamily="18" charset="0"/>
              </a:rPr>
              <a:t>TỔNG QUAN NGHIÊN CỨU</a:t>
            </a:r>
          </a:p>
          <a:p>
            <a:pPr marL="571500" indent="-571500">
              <a:buFont typeface="+mj-lt"/>
              <a:buAutoNum type="romanLcPeriod"/>
            </a:pPr>
            <a:r>
              <a:rPr lang="vi-VN" sz="2800" dirty="0" smtClean="0">
                <a:latin typeface="Times New Roman" pitchFamily="18" charset="0"/>
                <a:cs typeface="Times New Roman" pitchFamily="18" charset="0"/>
              </a:rPr>
              <a:t>CƠ SỞ LÝ THUYẾT VÀ CÔNG NGHỆ SỬ DỤNG</a:t>
            </a:r>
            <a:endParaRPr lang="en-US" sz="2800" dirty="0" smtClean="0">
              <a:latin typeface="Times New Roman" pitchFamily="18" charset="0"/>
              <a:cs typeface="Times New Roman" pitchFamily="18" charset="0"/>
            </a:endParaRPr>
          </a:p>
          <a:p>
            <a:pPr marL="571500" indent="-571500">
              <a:buFont typeface="+mj-lt"/>
              <a:buAutoNum type="romanLcPeriod"/>
            </a:pPr>
            <a:r>
              <a:rPr lang="en-US" sz="2800" dirty="0" smtClean="0">
                <a:latin typeface="Times New Roman" pitchFamily="18" charset="0"/>
                <a:cs typeface="Times New Roman" pitchFamily="18" charset="0"/>
              </a:rPr>
              <a:t>HIÊN THỰC HÓA HỆ THỐNG</a:t>
            </a:r>
          </a:p>
          <a:p>
            <a:pPr marL="571500" indent="-571500">
              <a:buFont typeface="+mj-lt"/>
              <a:buAutoNum type="romanLcPeriod"/>
            </a:pPr>
            <a:r>
              <a:rPr lang="vi-VN" sz="2800" dirty="0" smtClean="0">
                <a:latin typeface="Times New Roman" pitchFamily="18" charset="0"/>
                <a:cs typeface="Times New Roman" pitchFamily="18" charset="0"/>
              </a:rPr>
              <a:t>KẾT QUẢ ĐẠT ĐƯỢC</a:t>
            </a:r>
            <a:endParaRPr lang="en-US" sz="2800" dirty="0" smtClean="0">
              <a:latin typeface="Times New Roman" pitchFamily="18" charset="0"/>
              <a:cs typeface="Times New Roman" pitchFamily="18" charset="0"/>
            </a:endParaRPr>
          </a:p>
          <a:p>
            <a:pPr marL="571500" indent="-571500">
              <a:buFont typeface="+mj-lt"/>
              <a:buAutoNum type="romanLcPeriod"/>
            </a:pPr>
            <a:r>
              <a:rPr lang="vi-VN" sz="2800" dirty="0" smtClean="0">
                <a:latin typeface="Times New Roman" pitchFamily="18" charset="0"/>
                <a:cs typeface="Times New Roman" pitchFamily="18" charset="0"/>
              </a:rPr>
              <a:t>KẾT LUẬN VÀ HƯỚNG PHÁT TRIỂN</a:t>
            </a:r>
            <a:endParaRPr lang="en-US" sz="2800" dirty="0">
              <a:ln w="10160">
                <a:solidFill>
                  <a:schemeClr val="accent1"/>
                </a:solidFill>
                <a:prstDash val="solid"/>
              </a:ln>
              <a:solidFill>
                <a:srgbClr val="FFFFFF"/>
              </a:solidFill>
              <a:effectLst>
                <a:outerShdw blurRad="38100" dist="32000" dir="540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3690403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TỔNG QUAN NGHIÊN CỨU</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vi-VN"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j-lt"/>
              </a:rPr>
              <a:t>1.1 Lý do chọn đề tài</a:t>
            </a:r>
            <a:endPar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j-lt"/>
            </a:endParaRPr>
          </a:p>
          <a:p>
            <a:pPr>
              <a:buFont typeface="Wingdings" pitchFamily="2" charset="2"/>
              <a:buChar char="Ø"/>
            </a:pPr>
            <a:r>
              <a:rPr lang="vi-VN" dirty="0" smtClean="0">
                <a:latin typeface="+mj-lt"/>
              </a:rPr>
              <a:t>Mua sắm trực tuyến ngày càng phổ biến, trong đó nhu cầu mua hoa online tăng cao do tính tiện lợi và khả năng xem trước mẫu mã. Việc xây dựng website bán hoa giúp cửa hàng tiếp cận khách hàng hiệu quả hơn.</a:t>
            </a:r>
            <a:endParaRPr lang="en-US" dirty="0" smtClean="0">
              <a:latin typeface="+mj-lt"/>
            </a:endParaRPr>
          </a:p>
        </p:txBody>
      </p:sp>
    </p:spTree>
    <p:extLst>
      <p:ext uri="{BB962C8B-B14F-4D97-AF65-F5344CB8AC3E}">
        <p14:creationId xmlns:p14="http://schemas.microsoft.com/office/powerpoint/2010/main" val="906013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TỔNG QUAN NGHIÊN CỨU</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Text Placeholder 2"/>
          <p:cNvSpPr>
            <a:spLocks noGrp="1"/>
          </p:cNvSpPr>
          <p:nvPr>
            <p:ph type="body" idx="1"/>
          </p:nvPr>
        </p:nvSpPr>
        <p:spPr/>
        <p:txBody>
          <a:bodyPr/>
          <a:lstStyle/>
          <a:p>
            <a:r>
              <a:rPr lang="vi-VN"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1.2 Mục tiêu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nghiên</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cứu</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4" name="Content Placeholder 3"/>
          <p:cNvSpPr>
            <a:spLocks noGrp="1"/>
          </p:cNvSpPr>
          <p:nvPr>
            <p:ph sz="half" idx="2"/>
          </p:nvPr>
        </p:nvSpPr>
        <p:spPr/>
        <p:txBody>
          <a:bodyPr/>
          <a:lstStyle/>
          <a:p>
            <a:pPr>
              <a:buFont typeface="Wingdings" pitchFamily="2" charset="2"/>
              <a:buChar char="Ø"/>
            </a:pPr>
            <a:r>
              <a:rPr lang="vi-VN" dirty="0" smtClean="0">
                <a:latin typeface="Times New Roman" pitchFamily="18" charset="0"/>
                <a:cs typeface="Times New Roman" pitchFamily="18" charset="0"/>
              </a:rPr>
              <a:t>Xây dựng website bán hoa đơn giản, dễ sử dụng, hỗ trợ khách hàng xem thông tin sản phẩm và quản lý giỏ hàng.</a:t>
            </a:r>
            <a:endParaRPr lang="en-US" dirty="0">
              <a:latin typeface="Times New Roman" pitchFamily="18" charset="0"/>
              <a:cs typeface="Times New Roman" pitchFamily="18" charset="0"/>
            </a:endParaRPr>
          </a:p>
        </p:txBody>
      </p:sp>
      <p:sp>
        <p:nvSpPr>
          <p:cNvPr id="5" name="Text Placeholder 4"/>
          <p:cNvSpPr>
            <a:spLocks noGrp="1"/>
          </p:cNvSpPr>
          <p:nvPr>
            <p:ph type="body" sz="quarter" idx="3"/>
          </p:nvPr>
        </p:nvSpPr>
        <p:spPr>
          <a:xfrm>
            <a:off x="4645025" y="1535113"/>
            <a:ext cx="4346575" cy="639762"/>
          </a:xfrm>
        </p:spPr>
        <p:txBody>
          <a:bodyPr>
            <a:normAutofit fontScale="92500" lnSpcReduction="20000"/>
          </a:bodyPr>
          <a:lstStyle/>
          <a:p>
            <a:r>
              <a:rPr lang="vi-VN"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1.3 Đối tượng và phạm vi nghiên cứu</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6" name="Content Placeholder 5"/>
          <p:cNvSpPr>
            <a:spLocks noGrp="1"/>
          </p:cNvSpPr>
          <p:nvPr>
            <p:ph sz="quarter" idx="4"/>
          </p:nvPr>
        </p:nvSpPr>
        <p:spPr/>
        <p:txBody>
          <a:bodyPr/>
          <a:lstStyle/>
          <a:p>
            <a:pPr>
              <a:buFont typeface="Wingdings" pitchFamily="2" charset="2"/>
              <a:buChar char="Ø"/>
            </a:pPr>
            <a:r>
              <a:rPr lang="vi-VN" dirty="0" smtClean="0">
                <a:latin typeface="Times New Roman" pitchFamily="18" charset="0"/>
                <a:cs typeface="Times New Roman" pitchFamily="18" charset="0"/>
              </a:rPr>
              <a:t>Đối tượng nghiên cứu là website bán hoa trên nền tảng web. Phạm vi đề tài tập trung vào website tĩnh sử dụng HTML, CSS và JavaScript.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299858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CƠ SỞ LÝ THUYẾT VÀ CÔNG NGHỆ SỬ DỤNG</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Text Placeholder 2"/>
          <p:cNvSpPr>
            <a:spLocks noGrp="1"/>
          </p:cNvSpPr>
          <p:nvPr>
            <p:ph type="body" idx="1"/>
          </p:nvPr>
        </p:nvSpPr>
        <p:spPr/>
        <p:txBody>
          <a:bodyPr>
            <a:normAutofit fontScale="92500"/>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2.1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Tổng</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quan</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website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bán</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hoa</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4" name="Content Placeholder 3"/>
          <p:cNvSpPr>
            <a:spLocks noGrp="1"/>
          </p:cNvSpPr>
          <p:nvPr>
            <p:ph sz="half" idx="2"/>
          </p:nvPr>
        </p:nvSpPr>
        <p:spPr/>
        <p:txBody>
          <a:bodyPr/>
          <a:lstStyle/>
          <a:p>
            <a:pPr>
              <a:buFont typeface="Wingdings" pitchFamily="2" charset="2"/>
              <a:buChar char="Ø"/>
            </a:pPr>
            <a:r>
              <a:rPr lang="vi-VN" dirty="0" smtClean="0">
                <a:latin typeface="Times New Roman" pitchFamily="18" charset="0"/>
                <a:cs typeface="Times New Roman" pitchFamily="18" charset="0"/>
              </a:rPr>
              <a:t>Website bán hoa là một dạng website thương mại điện tử giúp giới thiệu và trưng bày các sản phẩm hoa thông qua môi trường Internet, hỗ trợ khách hàng xem thông tin và lựa chọn sản phẩm thuận tiện.</a:t>
            </a:r>
            <a:endParaRPr lang="en-US" dirty="0">
              <a:latin typeface="Times New Roman" pitchFamily="18" charset="0"/>
              <a:cs typeface="Times New Roman" pitchFamily="18" charset="0"/>
            </a:endParaRPr>
          </a:p>
        </p:txBody>
      </p:sp>
      <p:sp>
        <p:nvSpPr>
          <p:cNvPr id="5" name="Text Placeholder 4"/>
          <p:cNvSpPr>
            <a:spLocks noGrp="1"/>
          </p:cNvSpPr>
          <p:nvPr>
            <p:ph type="body" sz="quarter" idx="3"/>
          </p:nvPr>
        </p:nvSpPr>
        <p:spPr/>
        <p:txBody>
          <a:bodyPr>
            <a:normAutofit fontScale="92500" lnSpcReduction="20000"/>
          </a:bodyPr>
          <a:lstStyle/>
          <a:p>
            <a:r>
              <a:rPr lang="vi-VN"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2.2 Mô hình hoạt động của website</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6" name="Content Placeholder 5"/>
          <p:cNvSpPr>
            <a:spLocks noGrp="1"/>
          </p:cNvSpPr>
          <p:nvPr>
            <p:ph sz="quarter" idx="4"/>
          </p:nvPr>
        </p:nvSpPr>
        <p:spPr/>
        <p:txBody>
          <a:bodyPr/>
          <a:lstStyle/>
          <a:p>
            <a:pPr>
              <a:buFont typeface="Wingdings" pitchFamily="2" charset="2"/>
              <a:buChar char="Ø"/>
            </a:pPr>
            <a:r>
              <a:rPr lang="vi-VN" dirty="0" smtClean="0">
                <a:latin typeface="Times New Roman" pitchFamily="18" charset="0"/>
                <a:cs typeface="Times New Roman" pitchFamily="18" charset="0"/>
              </a:rPr>
              <a:t>Website hoạt động theo mô hình Client – Server, trong đó người dùng truy cập website bằng trình duyệt web và thực hiện các thao tác xem sản phẩm, tìm kiếm và quản lý giỏ hàng trực tiếp trên giao diện.</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949626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CƠ SỞ LÝ THUYẾT VÀ CÔNG NGHỆ SỬ DỤNG</a:t>
            </a:r>
            <a:endParaRPr lang="en-US" dirty="0">
              <a:latin typeface="Times New Roman" pitchFamily="18" charset="0"/>
              <a:cs typeface="Times New Roman" pitchFamily="18" charset="0"/>
            </a:endParaRPr>
          </a:p>
        </p:txBody>
      </p:sp>
      <p:sp>
        <p:nvSpPr>
          <p:cNvPr id="3" name="Text Placeholder 2"/>
          <p:cNvSpPr>
            <a:spLocks noGrp="1"/>
          </p:cNvSpPr>
          <p:nvPr>
            <p:ph type="body" idx="1"/>
          </p:nvPr>
        </p:nvSpPr>
        <p:spPr/>
        <p:txBody>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2.3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Các</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công</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nghệ</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sử</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dụng</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4" name="Content Placeholder 3"/>
          <p:cNvSpPr>
            <a:spLocks noGrp="1"/>
          </p:cNvSpPr>
          <p:nvPr>
            <p:ph sz="half" idx="2"/>
          </p:nvPr>
        </p:nvSpPr>
        <p:spPr/>
        <p:txBody>
          <a:bodyPr/>
          <a:lstStyle/>
          <a:p>
            <a:pPr>
              <a:buFont typeface="Wingdings" pitchFamily="2" charset="2"/>
              <a:buChar char="Ø"/>
            </a:pPr>
            <a:r>
              <a:rPr lang="vi-VN" dirty="0" smtClean="0">
                <a:latin typeface="Times New Roman" pitchFamily="18" charset="0"/>
                <a:cs typeface="Times New Roman" pitchFamily="18" charset="0"/>
              </a:rPr>
              <a:t>Hệ thống sử dụng các công nghệ Web Front-end cơ bản gồm HTML để xây dựng cấu trúc nội dung, CSS để thiết kế giao diện và JavaScript để xử lý các chức năng tương tác như tìm kiếm và giỏ hàng.</a:t>
            </a:r>
            <a:endParaRPr lang="en-US" dirty="0">
              <a:latin typeface="Times New Roman" pitchFamily="18" charset="0"/>
              <a:cs typeface="Times New Roman" pitchFamily="18" charset="0"/>
            </a:endParaRPr>
          </a:p>
        </p:txBody>
      </p:sp>
      <p:sp>
        <p:nvSpPr>
          <p:cNvPr id="5" name="Text Placeholder 4"/>
          <p:cNvSpPr>
            <a:spLocks noGrp="1"/>
          </p:cNvSpPr>
          <p:nvPr>
            <p:ph type="body" sz="quarter" idx="3"/>
          </p:nvPr>
        </p:nvSpPr>
        <p:spPr/>
        <p:txBody>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2.4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Công</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cụ</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phát</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triển</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6" name="Content Placeholder 5"/>
          <p:cNvSpPr>
            <a:spLocks noGrp="1"/>
          </p:cNvSpPr>
          <p:nvPr>
            <p:ph sz="quarter" idx="4"/>
          </p:nvPr>
        </p:nvSpPr>
        <p:spPr/>
        <p:txBody>
          <a:bodyPr/>
          <a:lstStyle/>
          <a:p>
            <a:pPr>
              <a:buFont typeface="Wingdings" pitchFamily="2" charset="2"/>
              <a:buChar char="Ø"/>
            </a:pPr>
            <a:r>
              <a:rPr lang="vi-VN" dirty="0" smtClean="0">
                <a:latin typeface="Times New Roman" pitchFamily="18" charset="0"/>
                <a:cs typeface="Times New Roman" pitchFamily="18" charset="0"/>
              </a:rPr>
              <a:t>Visual Studio Code được sử dụng làm công cụ phát triển chính, hỗ trợ viết mã, quản lý dự án và kiểm tra lỗi trong quá trình xây dựng website.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77000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HIÊN THỰC HÓA HỆ THỐNG</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Text Placeholder 2"/>
          <p:cNvSpPr>
            <a:spLocks noGrp="1"/>
          </p:cNvSpPr>
          <p:nvPr>
            <p:ph type="body" idx="1"/>
          </p:nvPr>
        </p:nvSpPr>
        <p:spPr/>
        <p:txBody>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3.1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Mô</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tả</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bài</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toán</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4" name="Content Placeholder 3"/>
          <p:cNvSpPr>
            <a:spLocks noGrp="1"/>
          </p:cNvSpPr>
          <p:nvPr>
            <p:ph sz="half" idx="2"/>
          </p:nvPr>
        </p:nvSpPr>
        <p:spPr/>
        <p:txBody>
          <a:bodyPr/>
          <a:lstStyle/>
          <a:p>
            <a:pPr>
              <a:buFont typeface="Wingdings" pitchFamily="2" charset="2"/>
              <a:buChar char="Ø"/>
            </a:pPr>
            <a:r>
              <a:rPr lang="vi-VN" dirty="0" smtClean="0">
                <a:latin typeface="Times New Roman" pitchFamily="18" charset="0"/>
                <a:cs typeface="Times New Roman" pitchFamily="18" charset="0"/>
              </a:rPr>
              <a:t>Bài toán đặt ra là xây dựng một website bán hoa trực tuyến có giao diện thân thiện, dễ sử dụng, giúp khách hàng xem danh mục hoa, tìm kiếm sản phẩm và quản lý giỏ hàng thuận tiện.</a:t>
            </a:r>
            <a:endParaRPr lang="en-US" dirty="0">
              <a:latin typeface="Times New Roman" pitchFamily="18" charset="0"/>
              <a:cs typeface="Times New Roman" pitchFamily="18" charset="0"/>
            </a:endParaRPr>
          </a:p>
        </p:txBody>
      </p:sp>
      <p:sp>
        <p:nvSpPr>
          <p:cNvPr id="5" name="Text Placeholder 4"/>
          <p:cNvSpPr>
            <a:spLocks noGrp="1"/>
          </p:cNvSpPr>
          <p:nvPr>
            <p:ph type="body" sz="quarter" idx="3"/>
          </p:nvPr>
        </p:nvSpPr>
        <p:spPr/>
        <p:txBody>
          <a:bodyPr>
            <a:normAutofit fontScale="92500"/>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3.2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Phân</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tích</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yêu</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cầu</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hệ</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thống</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6" name="Content Placeholder 5"/>
          <p:cNvSpPr>
            <a:spLocks noGrp="1"/>
          </p:cNvSpPr>
          <p:nvPr>
            <p:ph sz="quarter" idx="4"/>
          </p:nvPr>
        </p:nvSpPr>
        <p:spPr/>
        <p:txBody>
          <a:bodyPr>
            <a:normAutofit lnSpcReduction="10000"/>
          </a:bodyPr>
          <a:lstStyle/>
          <a:p>
            <a:pPr>
              <a:buFont typeface="Wingdings" pitchFamily="2" charset="2"/>
              <a:buChar char="Ø"/>
            </a:pPr>
            <a:r>
              <a:rPr lang="vi-VN" dirty="0" smtClean="0">
                <a:latin typeface="Times New Roman" pitchFamily="18" charset="0"/>
                <a:cs typeface="Times New Roman" pitchFamily="18" charset="0"/>
              </a:rPr>
              <a:t>Yêu cầu chức</a:t>
            </a: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năng</a:t>
            </a:r>
            <a:r>
              <a:rPr lang="en-US" dirty="0" smtClean="0">
                <a:latin typeface="Times New Roman" pitchFamily="18" charset="0"/>
                <a:cs typeface="Times New Roman" pitchFamily="18" charset="0"/>
              </a:rPr>
              <a:t>: Website </a:t>
            </a:r>
            <a:r>
              <a:rPr lang="en-US" dirty="0" err="1" smtClean="0">
                <a:latin typeface="Times New Roman" pitchFamily="18" charset="0"/>
                <a:cs typeface="Times New Roman" pitchFamily="18" charset="0"/>
              </a:rPr>
              <a:t>cần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hỗ</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trợ</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hiển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danh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mục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xem</a:t>
            </a:r>
            <a:r>
              <a:rPr lang="en-US" dirty="0" smtClean="0">
                <a:latin typeface="Times New Roman" pitchFamily="18" charset="0"/>
                <a:cs typeface="Times New Roman" pitchFamily="18" charset="0"/>
              </a:rPr>
              <a:t> chi </a:t>
            </a:r>
            <a:r>
              <a:rPr lang="en-US" dirty="0" err="1" smtClean="0">
                <a:latin typeface="Times New Roman" pitchFamily="18" charset="0"/>
                <a:cs typeface="Times New Roman" pitchFamily="18" charset="0"/>
              </a:rPr>
              <a:t>tiết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sản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phẩm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tìm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kiếm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quản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lý</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giỏ</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hàng</a:t>
            </a:r>
            <a:r>
              <a:rPr lang="en-US" dirty="0" smtClean="0">
                <a:latin typeface="Times New Roman" pitchFamily="18" charset="0"/>
                <a:cs typeface="Times New Roman" pitchFamily="18" charset="0"/>
              </a:rPr>
              <a:t>.</a:t>
            </a:r>
          </a:p>
          <a:p>
            <a:pPr>
              <a:buFont typeface="Wingdings" pitchFamily="2" charset="2"/>
              <a:buChar char="Ø"/>
            </a:pPr>
            <a:r>
              <a:rPr lang="vi-VN" dirty="0" smtClean="0">
                <a:latin typeface="Times New Roman" pitchFamily="18" charset="0"/>
                <a:cs typeface="Times New Roman" pitchFamily="18" charset="0"/>
              </a:rPr>
              <a:t>Yêu cầu phi chức năng</a:t>
            </a: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Website cần đảm bảo giao diện dễ sử dụng, tốc độ tải nhanh và hoạt động ổn định trên nhiều trình duyệt khác nhau.</a:t>
            </a:r>
            <a:endParaRPr 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928571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HIÊN THỰC HÓA HỆ THỐNG</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Text Placeholder 2"/>
          <p:cNvSpPr>
            <a:spLocks noGrp="1"/>
          </p:cNvSpPr>
          <p:nvPr>
            <p:ph type="body" idx="1"/>
          </p:nvPr>
        </p:nvSpPr>
        <p:spPr/>
        <p:txBody>
          <a:bodyPr>
            <a:normAutofit fontScale="92500"/>
          </a:bodyPr>
          <a:lstStyle/>
          <a:p>
            <a:r>
              <a:rPr lang="vi-VN"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3.3 Đối tượng sử dụng hệ thống</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4" name="Content Placeholder 3"/>
          <p:cNvSpPr>
            <a:spLocks noGrp="1"/>
          </p:cNvSpPr>
          <p:nvPr>
            <p:ph sz="half" idx="2"/>
          </p:nvPr>
        </p:nvSpPr>
        <p:spPr/>
        <p:txBody>
          <a:bodyPr/>
          <a:lstStyle/>
          <a:p>
            <a:pPr>
              <a:buFont typeface="Wingdings" pitchFamily="2" charset="2"/>
              <a:buChar char="Ø"/>
            </a:pPr>
            <a:r>
              <a:rPr lang="vi-VN" dirty="0" smtClean="0">
                <a:latin typeface="Times New Roman" pitchFamily="18" charset="0"/>
                <a:cs typeface="Times New Roman" pitchFamily="18" charset="0"/>
              </a:rPr>
              <a:t>Hệ thống phục vụ khách hàng mua hoa trực tuyến, chủ cửa hàng hoa và sinh viên sử dụng website cho mục đích học tập, tham khảo.</a:t>
            </a:r>
            <a:endParaRPr lang="en-US" dirty="0">
              <a:latin typeface="Times New Roman" pitchFamily="18" charset="0"/>
              <a:cs typeface="Times New Roman" pitchFamily="18" charset="0"/>
            </a:endParaRPr>
          </a:p>
        </p:txBody>
      </p:sp>
      <p:sp>
        <p:nvSpPr>
          <p:cNvPr id="5" name="Text Placeholder 4"/>
          <p:cNvSpPr>
            <a:spLocks noGrp="1"/>
          </p:cNvSpPr>
          <p:nvPr>
            <p:ph type="body" sz="quarter" idx="3"/>
          </p:nvPr>
        </p:nvSpPr>
        <p:spPr/>
        <p:txBody>
          <a:bodyPr>
            <a:normAutofit fontScale="92500"/>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3.4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Cấu</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trúc</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và</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tổ</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chức</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website</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6" name="Content Placeholder 5"/>
          <p:cNvSpPr>
            <a:spLocks noGrp="1"/>
          </p:cNvSpPr>
          <p:nvPr>
            <p:ph sz="quarter" idx="4"/>
          </p:nvPr>
        </p:nvSpPr>
        <p:spPr/>
        <p:txBody>
          <a:bodyPr/>
          <a:lstStyle/>
          <a:p>
            <a:pPr>
              <a:buFont typeface="Wingdings" pitchFamily="2" charset="2"/>
              <a:buChar char="Ø"/>
            </a:pPr>
            <a:r>
              <a:rPr lang="vi-VN" dirty="0" smtClean="0">
                <a:latin typeface="Times New Roman" pitchFamily="18" charset="0"/>
                <a:cs typeface="Times New Roman" pitchFamily="18" charset="0"/>
              </a:rPr>
              <a:t>Website được tổ chức theo cấu trúc thư mục rõ ràng gồm các tệp HTML, CSS, JavaScript và thư mục hình ảnh, thuận tiện cho việc quản lý và phát triển.</a:t>
            </a:r>
            <a:endParaRPr lang="en-US" dirty="0">
              <a:latin typeface="Times New Roman" pitchFamily="18" charset="0"/>
              <a:cs typeface="Times New Roman" pitchFamily="18" charset="0"/>
            </a:endParaRPr>
          </a:p>
        </p:txBody>
      </p:sp>
      <p:pic>
        <p:nvPicPr>
          <p:cNvPr id="7" name="Picture 6"/>
          <p:cNvPicPr/>
          <p:nvPr/>
        </p:nvPicPr>
        <p:blipFill>
          <a:blip r:embed="rId2">
            <a:extLst>
              <a:ext uri="{BEBA8EAE-BF5A-486C-A8C5-ECC9F3942E4B}">
                <a14:imgProps xmlns:a14="http://schemas.microsoft.com/office/drawing/2010/main">
                  <a14:imgLayer r:embed="rId3">
                    <a14:imgEffect>
                      <a14:colorTemperature colorTemp="6172"/>
                    </a14:imgEffect>
                  </a14:imgLayer>
                </a14:imgProps>
              </a:ext>
            </a:extLst>
          </a:blip>
          <a:stretch>
            <a:fillRect/>
          </a:stretch>
        </p:blipFill>
        <p:spPr>
          <a:xfrm>
            <a:off x="4953000" y="4648198"/>
            <a:ext cx="3619500" cy="2055779"/>
          </a:xfrm>
          <a:prstGeom prst="rect">
            <a:avLst/>
          </a:prstGeom>
          <a:effectLst>
            <a:glow rad="165100">
              <a:schemeClr val="accent1">
                <a:alpha val="97000"/>
              </a:schemeClr>
            </a:glow>
            <a:outerShdw dir="4860000" sx="1000" sy="1000" algn="ctr" rotWithShape="0">
              <a:srgbClr val="000000"/>
            </a:outerShdw>
            <a:reflection stA="72000" dist="1270000" dir="5400000" sy="-100000" algn="bl" rotWithShape="0"/>
            <a:softEdge rad="0"/>
          </a:effectLst>
        </p:spPr>
      </p:pic>
    </p:spTree>
    <p:extLst>
      <p:ext uri="{BB962C8B-B14F-4D97-AF65-F5344CB8AC3E}">
        <p14:creationId xmlns:p14="http://schemas.microsoft.com/office/powerpoint/2010/main" val="2492742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KẾT QUẢ ĐẠT ĐƯỢC</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Text Placeholder 2"/>
          <p:cNvSpPr>
            <a:spLocks noGrp="1"/>
          </p:cNvSpPr>
          <p:nvPr>
            <p:ph type="body" idx="1"/>
          </p:nvPr>
        </p:nvSpPr>
        <p:spPr/>
        <p:txBody>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4.1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Tổng</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quan</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kết</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quả</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4" name="Content Placeholder 3"/>
          <p:cNvSpPr>
            <a:spLocks noGrp="1"/>
          </p:cNvSpPr>
          <p:nvPr>
            <p:ph sz="half" idx="2"/>
          </p:nvPr>
        </p:nvSpPr>
        <p:spPr/>
        <p:txBody>
          <a:bodyPr/>
          <a:lstStyle/>
          <a:p>
            <a:pPr>
              <a:buFont typeface="Wingdings" pitchFamily="2" charset="2"/>
              <a:buChar char="Ø"/>
            </a:pPr>
            <a:r>
              <a:rPr lang="vi-VN" dirty="0" smtClean="0">
                <a:latin typeface="Times New Roman" pitchFamily="18" charset="0"/>
                <a:cs typeface="Times New Roman" pitchFamily="18" charset="0"/>
              </a:rPr>
              <a:t>Sau quá trình triển khai, website bán hoa đã được xây dựng hoàn chỉnh và hoạt động ổn định trên trình duyệt web, đáp ứng các mục tiêu đề ra ban đầu của đề tài.</a:t>
            </a:r>
            <a:endParaRPr lang="en-US" dirty="0">
              <a:latin typeface="Times New Roman" pitchFamily="18" charset="0"/>
              <a:cs typeface="Times New Roman" pitchFamily="18" charset="0"/>
            </a:endParaRPr>
          </a:p>
        </p:txBody>
      </p:sp>
      <p:sp>
        <p:nvSpPr>
          <p:cNvPr id="5" name="Text Placeholder 4"/>
          <p:cNvSpPr>
            <a:spLocks noGrp="1"/>
          </p:cNvSpPr>
          <p:nvPr>
            <p:ph type="body" sz="quarter" idx="3"/>
          </p:nvPr>
        </p:nvSpPr>
        <p:spPr/>
        <p:txBody>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4.2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Giao</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diện</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website</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6" name="Content Placeholder 5"/>
          <p:cNvSpPr>
            <a:spLocks noGrp="1"/>
          </p:cNvSpPr>
          <p:nvPr>
            <p:ph sz="quarter" idx="4"/>
          </p:nvPr>
        </p:nvSpPr>
        <p:spPr/>
        <p:txBody>
          <a:bodyPr/>
          <a:lstStyle/>
          <a:p>
            <a:pPr>
              <a:buFont typeface="Wingdings" pitchFamily="2" charset="2"/>
              <a:buChar char="Ø"/>
            </a:pPr>
            <a:r>
              <a:rPr lang="vi-VN" dirty="0" smtClean="0">
                <a:latin typeface="Times New Roman" pitchFamily="18" charset="0"/>
                <a:cs typeface="Times New Roman" pitchFamily="18" charset="0"/>
              </a:rPr>
              <a:t>Giao diện website được thiết kế thân thiện, màu sắc nhẹ nhàng, bố cục rõ ràng, phù hợp với đặc trưng của sản phẩm hoa và dễ sử dụng đối với người dùng.</a:t>
            </a:r>
            <a:endParaRPr lang="en-US" dirty="0">
              <a:latin typeface="Times New Roman" pitchFamily="18" charset="0"/>
              <a:cs typeface="Times New Roman" pitchFamily="18" charset="0"/>
            </a:endParaRPr>
          </a:p>
        </p:txBody>
      </p:sp>
      <p:pic>
        <p:nvPicPr>
          <p:cNvPr id="8" name="Picture 7"/>
          <p:cNvPicPr/>
          <p:nvPr/>
        </p:nvPicPr>
        <p:blipFill>
          <a:blip r:embed="rId2"/>
          <a:stretch>
            <a:fillRect/>
          </a:stretch>
        </p:blipFill>
        <p:spPr>
          <a:xfrm>
            <a:off x="1447800" y="4553684"/>
            <a:ext cx="2700020" cy="2151915"/>
          </a:xfrm>
          <a:prstGeom prst="rect">
            <a:avLst/>
          </a:prstGeom>
        </p:spPr>
      </p:pic>
      <p:pic>
        <p:nvPicPr>
          <p:cNvPr id="9" name="Picture 8"/>
          <p:cNvPicPr/>
          <p:nvPr/>
        </p:nvPicPr>
        <p:blipFill>
          <a:blip r:embed="rId3"/>
          <a:stretch>
            <a:fillRect/>
          </a:stretch>
        </p:blipFill>
        <p:spPr>
          <a:xfrm>
            <a:off x="4724400" y="4553685"/>
            <a:ext cx="2852420" cy="2151915"/>
          </a:xfrm>
          <a:prstGeom prst="rect">
            <a:avLst/>
          </a:prstGeom>
        </p:spPr>
      </p:pic>
    </p:spTree>
    <p:extLst>
      <p:ext uri="{BB962C8B-B14F-4D97-AF65-F5344CB8AC3E}">
        <p14:creationId xmlns:p14="http://schemas.microsoft.com/office/powerpoint/2010/main" val="689489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KẾT QUẢ ĐẠT ĐƯỢC</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Text Placeholder 2"/>
          <p:cNvSpPr>
            <a:spLocks noGrp="1"/>
          </p:cNvSpPr>
          <p:nvPr>
            <p:ph type="body" idx="1"/>
          </p:nvPr>
        </p:nvSpPr>
        <p:spPr/>
        <p:txBody>
          <a:bodyPr/>
          <a:lstStyle/>
          <a:p>
            <a:r>
              <a:rPr lang="vi-VN"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4.3 Các chức năng chính</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4" name="Content Placeholder 3"/>
          <p:cNvSpPr>
            <a:spLocks noGrp="1"/>
          </p:cNvSpPr>
          <p:nvPr>
            <p:ph sz="half" idx="2"/>
          </p:nvPr>
        </p:nvSpPr>
        <p:spPr/>
        <p:txBody>
          <a:bodyPr/>
          <a:lstStyle/>
          <a:p>
            <a:pPr>
              <a:buFont typeface="Wingdings" pitchFamily="2" charset="2"/>
              <a:buChar char="Ø"/>
            </a:pPr>
            <a:r>
              <a:rPr lang="vi-VN" dirty="0" smtClean="0">
                <a:latin typeface="Times New Roman" pitchFamily="18" charset="0"/>
                <a:cs typeface="Times New Roman" pitchFamily="18" charset="0"/>
              </a:rPr>
              <a:t>Website hỗ trợ các chức năng chính như hiển thị danh mục hoa, xem chi tiết sản phẩm, tìm kiếm và quản lý giỏ hàng. Các chức năng này hoạt động đúng yêu cầu và ổn định.</a:t>
            </a:r>
            <a:endParaRPr lang="en-US" dirty="0">
              <a:latin typeface="Times New Roman" pitchFamily="18" charset="0"/>
              <a:cs typeface="Times New Roman" pitchFamily="18" charset="0"/>
            </a:endParaRPr>
          </a:p>
        </p:txBody>
      </p:sp>
      <p:sp>
        <p:nvSpPr>
          <p:cNvPr id="5" name="Text Placeholder 4"/>
          <p:cNvSpPr>
            <a:spLocks noGrp="1"/>
          </p:cNvSpPr>
          <p:nvPr>
            <p:ph type="body" sz="quarter" idx="3"/>
          </p:nvPr>
        </p:nvSpPr>
        <p:spPr/>
        <p:txBody>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4.4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Đánh</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giá</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hệ</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thống</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6" name="Content Placeholder 5"/>
          <p:cNvSpPr>
            <a:spLocks noGrp="1"/>
          </p:cNvSpPr>
          <p:nvPr>
            <p:ph sz="quarter" idx="4"/>
          </p:nvPr>
        </p:nvSpPr>
        <p:spPr/>
        <p:txBody>
          <a:bodyPr/>
          <a:lstStyle/>
          <a:p>
            <a:pPr>
              <a:buFont typeface="Wingdings" pitchFamily="2" charset="2"/>
              <a:buChar char="Ø"/>
            </a:pPr>
            <a:r>
              <a:rPr lang="vi-VN" dirty="0" smtClean="0">
                <a:latin typeface="Times New Roman" pitchFamily="18" charset="0"/>
                <a:cs typeface="Times New Roman" pitchFamily="18" charset="0"/>
              </a:rPr>
              <a:t>Website đáp ứng tốt nhu cầu tham khảo và lựa chọn sản phẩm của khách hàng, phù hợp với phạm vi đồ án và có khả năng ứng dụng thực tế cho các cửa hàng hoa nhỏ.</a:t>
            </a:r>
            <a:endParaRPr lang="en-US" dirty="0">
              <a:latin typeface="Times New Roman" pitchFamily="18" charset="0"/>
              <a:cs typeface="Times New Roman" pitchFamily="18" charset="0"/>
            </a:endParaRPr>
          </a:p>
        </p:txBody>
      </p:sp>
      <p:pic>
        <p:nvPicPr>
          <p:cNvPr id="8" name="Picture 7"/>
          <p:cNvPicPr/>
          <p:nvPr/>
        </p:nvPicPr>
        <p:blipFill>
          <a:blip r:embed="rId2"/>
          <a:stretch>
            <a:fillRect/>
          </a:stretch>
        </p:blipFill>
        <p:spPr>
          <a:xfrm>
            <a:off x="304800" y="4770755"/>
            <a:ext cx="2514600" cy="1828800"/>
          </a:xfrm>
          <a:prstGeom prst="rect">
            <a:avLst/>
          </a:prstGeom>
        </p:spPr>
      </p:pic>
      <p:pic>
        <p:nvPicPr>
          <p:cNvPr id="9" name="Picture 8"/>
          <p:cNvPicPr/>
          <p:nvPr/>
        </p:nvPicPr>
        <p:blipFill>
          <a:blip r:embed="rId3"/>
          <a:stretch>
            <a:fillRect/>
          </a:stretch>
        </p:blipFill>
        <p:spPr>
          <a:xfrm>
            <a:off x="3048000" y="4770755"/>
            <a:ext cx="2209800" cy="1934845"/>
          </a:xfrm>
          <a:prstGeom prst="rect">
            <a:avLst/>
          </a:prstGeom>
        </p:spPr>
      </p:pic>
      <p:pic>
        <p:nvPicPr>
          <p:cNvPr id="10" name="Picture 9"/>
          <p:cNvPicPr/>
          <p:nvPr/>
        </p:nvPicPr>
        <p:blipFill>
          <a:blip r:embed="rId4"/>
          <a:stretch>
            <a:fillRect/>
          </a:stretch>
        </p:blipFill>
        <p:spPr>
          <a:xfrm>
            <a:off x="6324600" y="4756317"/>
            <a:ext cx="1771650" cy="923925"/>
          </a:xfrm>
          <a:prstGeom prst="rect">
            <a:avLst/>
          </a:prstGeom>
        </p:spPr>
      </p:pic>
      <p:pic>
        <p:nvPicPr>
          <p:cNvPr id="11" name="Picture 10"/>
          <p:cNvPicPr/>
          <p:nvPr/>
        </p:nvPicPr>
        <p:blipFill>
          <a:blip r:embed="rId5"/>
          <a:stretch>
            <a:fillRect/>
          </a:stretch>
        </p:blipFill>
        <p:spPr>
          <a:xfrm>
            <a:off x="5441315" y="5812856"/>
            <a:ext cx="3538220" cy="516255"/>
          </a:xfrm>
          <a:prstGeom prst="rect">
            <a:avLst/>
          </a:prstGeom>
        </p:spPr>
      </p:pic>
    </p:spTree>
    <p:extLst>
      <p:ext uri="{BB962C8B-B14F-4D97-AF65-F5344CB8AC3E}">
        <p14:creationId xmlns:p14="http://schemas.microsoft.com/office/powerpoint/2010/main" val="3608116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KẾT LUẬN VÀ HƯỚNG PHÁT TRIỂN</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Text Placeholder 2"/>
          <p:cNvSpPr>
            <a:spLocks noGrp="1"/>
          </p:cNvSpPr>
          <p:nvPr>
            <p:ph type="body" idx="1"/>
          </p:nvPr>
        </p:nvSpPr>
        <p:spPr/>
        <p:txBody>
          <a:bodyPr/>
          <a:lstStyle/>
          <a:p>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5.1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Kết</a:t>
            </a:r>
            <a:r>
              <a:rPr lang="en-US"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 </a:t>
            </a:r>
            <a:r>
              <a:rPr lang="en-US"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luận</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4" name="Content Placeholder 3"/>
          <p:cNvSpPr>
            <a:spLocks noGrp="1"/>
          </p:cNvSpPr>
          <p:nvPr>
            <p:ph sz="half" idx="2"/>
          </p:nvPr>
        </p:nvSpPr>
        <p:spPr/>
        <p:txBody>
          <a:bodyPr>
            <a:normAutofit/>
          </a:bodyPr>
          <a:lstStyle/>
          <a:p>
            <a:pPr>
              <a:buFont typeface="Wingdings" pitchFamily="2" charset="2"/>
              <a:buChar char="Ø"/>
            </a:pPr>
            <a:r>
              <a:rPr lang="vi-VN" dirty="0" smtClean="0">
                <a:latin typeface="Times New Roman" pitchFamily="18" charset="0"/>
                <a:cs typeface="Times New Roman" pitchFamily="18" charset="0"/>
              </a:rPr>
              <a:t>Đề tài “Xây dựng website bán hoa trực tuyến” đã được thực hiện đúng mục tiêu đề ra. Website đáp ứng các chức năng cơ bản của một hệ thống bán hoa trên nền tảng web, phù hợp với phạm vi đồ án cơ sở ngành và có thể áp dụng trong thực tế.</a:t>
            </a:r>
            <a:endParaRPr lang="en-US" dirty="0">
              <a:latin typeface="Times New Roman" pitchFamily="18" charset="0"/>
              <a:cs typeface="Times New Roman" pitchFamily="18" charset="0"/>
            </a:endParaRPr>
          </a:p>
        </p:txBody>
      </p:sp>
      <p:sp>
        <p:nvSpPr>
          <p:cNvPr id="5" name="Text Placeholder 4"/>
          <p:cNvSpPr>
            <a:spLocks noGrp="1"/>
          </p:cNvSpPr>
          <p:nvPr>
            <p:ph type="body" sz="quarter" idx="3"/>
          </p:nvPr>
        </p:nvSpPr>
        <p:spPr/>
        <p:txBody>
          <a:bodyPr/>
          <a:lstStyle/>
          <a:p>
            <a:r>
              <a:rPr lang="vi-VN"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5.2 Kết quả đạt được</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6" name="Content Placeholder 5"/>
          <p:cNvSpPr>
            <a:spLocks noGrp="1"/>
          </p:cNvSpPr>
          <p:nvPr>
            <p:ph sz="quarter" idx="4"/>
          </p:nvPr>
        </p:nvSpPr>
        <p:spPr/>
        <p:txBody>
          <a:bodyPr/>
          <a:lstStyle/>
          <a:p>
            <a:pPr>
              <a:buFont typeface="Wingdings" pitchFamily="2" charset="2"/>
              <a:buChar char="Ø"/>
            </a:pPr>
            <a:r>
              <a:rPr lang="vi-VN" dirty="0" smtClean="0">
                <a:latin typeface="Times New Roman" pitchFamily="18" charset="0"/>
                <a:cs typeface="Times New Roman" pitchFamily="18" charset="0"/>
              </a:rPr>
              <a:t>Website được xây dựng với giao diện thân thiện, bố cục rõ ràng, hỗ trợ hiển thị danh mục hoa, xem chi tiết sản phẩm, tìm kiếm và quản lý giỏ hàng, giúp người dùng dễ dàng lựa chọn sản phẩm.</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999784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KẾT LUẬN VÀ HƯỚNG PHÁT TRIỂN</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3" name="Text Placeholder 2"/>
          <p:cNvSpPr>
            <a:spLocks noGrp="1"/>
          </p:cNvSpPr>
          <p:nvPr>
            <p:ph type="body" idx="1"/>
          </p:nvPr>
        </p:nvSpPr>
        <p:spPr/>
        <p:txBody>
          <a:bodyPr/>
          <a:lstStyle/>
          <a:p>
            <a:r>
              <a:rPr lang="vi-VN"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5.3 Hạn chế của đề tài</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4" name="Content Placeholder 3"/>
          <p:cNvSpPr>
            <a:spLocks noGrp="1"/>
          </p:cNvSpPr>
          <p:nvPr>
            <p:ph sz="half" idx="2"/>
          </p:nvPr>
        </p:nvSpPr>
        <p:spPr/>
        <p:txBody>
          <a:bodyPr/>
          <a:lstStyle/>
          <a:p>
            <a:pPr>
              <a:buFont typeface="Wingdings" pitchFamily="2" charset="2"/>
              <a:buChar char="Ø"/>
            </a:pPr>
            <a:r>
              <a:rPr lang="vi-VN" dirty="0" smtClean="0">
                <a:latin typeface="Times New Roman" pitchFamily="18" charset="0"/>
                <a:cs typeface="Times New Roman" pitchFamily="18" charset="0"/>
              </a:rPr>
              <a:t>Do giới hạn về thời gian và phạm vi nghiên cứu, website mới chỉ dừng ở mức website tĩnh, chưa tích hợp cơ sở dữ liệu, thanh toán trực tuyến và quản lý tài khoản người dùng.</a:t>
            </a:r>
            <a:endParaRPr lang="en-US" dirty="0">
              <a:latin typeface="Times New Roman" pitchFamily="18" charset="0"/>
              <a:cs typeface="Times New Roman" pitchFamily="18" charset="0"/>
            </a:endParaRPr>
          </a:p>
        </p:txBody>
      </p:sp>
      <p:sp>
        <p:nvSpPr>
          <p:cNvPr id="5" name="Text Placeholder 4"/>
          <p:cNvSpPr>
            <a:spLocks noGrp="1"/>
          </p:cNvSpPr>
          <p:nvPr>
            <p:ph type="body" sz="quarter" idx="3"/>
          </p:nvPr>
        </p:nvSpPr>
        <p:spPr/>
        <p:txBody>
          <a:bodyPr/>
          <a:lstStyle/>
          <a:p>
            <a:r>
              <a:rPr lang="vi-VN"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rPr>
              <a:t>5.4 Hướng phát triển</a:t>
            </a:r>
            <a:endParaRPr lang="en-US"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itchFamily="18" charset="0"/>
              <a:cs typeface="Times New Roman" pitchFamily="18" charset="0"/>
            </a:endParaRPr>
          </a:p>
        </p:txBody>
      </p:sp>
      <p:sp>
        <p:nvSpPr>
          <p:cNvPr id="6" name="Content Placeholder 5"/>
          <p:cNvSpPr>
            <a:spLocks noGrp="1"/>
          </p:cNvSpPr>
          <p:nvPr>
            <p:ph sz="quarter" idx="4"/>
          </p:nvPr>
        </p:nvSpPr>
        <p:spPr/>
        <p:txBody>
          <a:bodyPr/>
          <a:lstStyle/>
          <a:p>
            <a:pPr>
              <a:buFont typeface="Wingdings" pitchFamily="2" charset="2"/>
              <a:buChar char="Ø"/>
            </a:pPr>
            <a:r>
              <a:rPr lang="vi-VN" dirty="0" smtClean="0">
                <a:latin typeface="Times New Roman" pitchFamily="18" charset="0"/>
                <a:cs typeface="Times New Roman" pitchFamily="18" charset="0"/>
              </a:rPr>
              <a:t>Trong tương lai, website có thể được nâng cấp bằng cách bổ sung cơ sở dữ liệu, chức năng thanh toán trực tuyến, quản lý tài khoản người dùng và tối ưu hiển thị trên các thiết bị di động.</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983289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8214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1000</Words>
  <Application>Microsoft Office PowerPoint</Application>
  <PresentationFormat>On-screen Show (4:3)</PresentationFormat>
  <Paragraphs>59</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XÂY DỰNG WEBSITE  BÁN HOA</vt:lpstr>
      <vt:lpstr>NỘI DUNG</vt:lpstr>
      <vt:lpstr>TỔNG QUAN NGHIÊN CỨU</vt:lpstr>
      <vt:lpstr>TỔNG QUAN NGHIÊN CỨU</vt:lpstr>
      <vt:lpstr>CƠ SỞ LÝ THUYẾT VÀ CÔNG NGHỆ SỬ DỤNG</vt:lpstr>
      <vt:lpstr>CƠ SỞ LÝ THUYẾT VÀ CÔNG NGHỆ SỬ DỤNG</vt:lpstr>
      <vt:lpstr>HIÊN THỰC HÓA HỆ THỐNG</vt:lpstr>
      <vt:lpstr>HIÊN THỰC HÓA HỆ THỐNG</vt:lpstr>
      <vt:lpstr>KẾT QUẢ ĐẠT ĐƯỢC</vt:lpstr>
      <vt:lpstr>KẾT QUẢ ĐẠT ĐƯỢC</vt:lpstr>
      <vt:lpstr>KẾT LUẬN VÀ HƯỚNG PHÁT TRIỂN</vt:lpstr>
      <vt:lpstr>KẾT LUẬN VÀ HƯỚNG PHÁT TRIỂN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WEBSITE BÁN HOA</dc:title>
  <dc:creator>Administrator</dc:creator>
  <cp:lastModifiedBy>Administrator</cp:lastModifiedBy>
  <cp:revision>8</cp:revision>
  <dcterms:created xsi:type="dcterms:W3CDTF">2026-01-04T17:00:56Z</dcterms:created>
  <dcterms:modified xsi:type="dcterms:W3CDTF">2026-01-15T04:57:29Z</dcterms:modified>
</cp:coreProperties>
</file>